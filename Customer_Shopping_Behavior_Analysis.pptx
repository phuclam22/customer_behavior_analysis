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Gloock"/>
      <p:regular r:id="rId201314"/>
    </p:embeddedFont>
    <p:embeddedFont>
      <p:font typeface="Onest"/>
      <p:regular r:id="rId201315"/>
    </p:embeddedFont>
    <p:embeddedFont>
      <p:font typeface="Onest Medium"/>
      <p:regular r:id="rId201316"/>
    </p:embeddedFont>
    <p:embeddedFont>
      <p:font typeface="Onest SemiBold"/>
      <p:regular r:id="rId201317"/>
    </p:embeddedFont>
    <p:embeddedFont>
      <p:font typeface="One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B5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393" y="787400"/>
            <a:ext cx="711499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CUSTOMER ANALYSIS REPORT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60393" y="1057275"/>
            <a:ext cx="6505412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spc="-48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Customer shopping</a:t>
            </a:r>
            <a:endParaRPr lang="en-US" sz="48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800" spc="-48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behavior analysis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0393" y="2583458"/>
            <a:ext cx="4358471" cy="38100"/>
          </a:xfrm>
          <a:prstGeom prst="roundRect">
            <a:avLst>
              <a:gd name="adj" fmla="val 49999"/>
            </a:avLst>
          </a:prstGeom>
          <a:solidFill>
            <a:srgbClr val="0B5CE0"/>
          </a:solidFill>
          <a:ln/>
        </p:spPr>
      </p:sp>
      <p:sp>
        <p:nvSpPr>
          <p:cNvPr id="5" name="Text 3"/>
          <p:cNvSpPr/>
          <p:nvPr/>
        </p:nvSpPr>
        <p:spPr>
          <a:xfrm>
            <a:off x="760393" y="2848570"/>
            <a:ext cx="7114997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Turning transaction data into growth priorities for retail.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3400"/>
            <a:ext cx="80769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DATASET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803275"/>
            <a:ext cx="761980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44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3,900 transactions reveal a high-potential customer base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3033713"/>
            <a:ext cx="814962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B5CE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189" y="3309342"/>
            <a:ext cx="2336642" cy="19050"/>
          </a:xfrm>
          <a:prstGeom prst="rect">
            <a:avLst/>
          </a:prstGeom>
          <a:solidFill>
            <a:srgbClr val="0B5CE0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3446462"/>
            <a:ext cx="2336742" cy="747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400" spc="-128" kern="100" dirty="0">
                <a:solidFill>
                  <a:srgbClr val="0B5CE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3,900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189" y="4391025"/>
            <a:ext cx="2336742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transactions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098722" y="3033713"/>
            <a:ext cx="847605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B5CE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098722" y="3309342"/>
            <a:ext cx="2336642" cy="19050"/>
          </a:xfrm>
          <a:prstGeom prst="rect">
            <a:avLst/>
          </a:prstGeom>
          <a:solidFill>
            <a:srgbClr val="0B5CE0"/>
          </a:solidFill>
          <a:ln/>
        </p:spPr>
      </p:sp>
      <p:sp>
        <p:nvSpPr>
          <p:cNvPr id="10" name="Text 8"/>
          <p:cNvSpPr/>
          <p:nvPr/>
        </p:nvSpPr>
        <p:spPr>
          <a:xfrm>
            <a:off x="3098722" y="3446462"/>
            <a:ext cx="2336742" cy="747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400" spc="-128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18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098722" y="4391025"/>
            <a:ext cx="2336742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data variables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740256" y="3033713"/>
            <a:ext cx="85961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B5CE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740256" y="3309342"/>
            <a:ext cx="2336642" cy="19050"/>
          </a:xfrm>
          <a:prstGeom prst="rect">
            <a:avLst/>
          </a:prstGeom>
          <a:solidFill>
            <a:srgbClr val="0B5CE0"/>
          </a:solidFill>
          <a:ln/>
        </p:spPr>
      </p:sp>
      <p:sp>
        <p:nvSpPr>
          <p:cNvPr id="14" name="Text 12"/>
          <p:cNvSpPr/>
          <p:nvPr/>
        </p:nvSpPr>
        <p:spPr>
          <a:xfrm>
            <a:off x="5740256" y="3446462"/>
            <a:ext cx="2336742" cy="747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400" spc="-128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25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5740256" y="4391025"/>
            <a:ext cx="233674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products across four categories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189" y="5190331"/>
            <a:ext cx="358131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2150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USD 59.76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189" y="5663406"/>
            <a:ext cx="358131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Average purchase amount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95688" y="5190331"/>
            <a:ext cx="358131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2150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3.75 / 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95688" y="5663406"/>
            <a:ext cx="358131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Average rating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57189" y="6126559"/>
            <a:ext cx="807699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44557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data was cleaned, standardized, and loaded into Microsoft SQL Server for analysis.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34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REVENUE BY GENDER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803275"/>
            <a:ext cx="1127731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Male customers generate </a:t>
            </a:r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0B5CE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68%</a:t>
            </a:r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 of revenue in the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2132013"/>
            <a:ext cx="68527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44557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Revenue (USD)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444353"/>
            <a:ext cx="6603835" cy="317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67046" y="2306042"/>
            <a:ext cx="396746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MALE REVENUE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767046" y="2769195"/>
            <a:ext cx="3967460" cy="747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400" spc="-128" kern="100" dirty="0">
                <a:solidFill>
                  <a:srgbClr val="0B5CE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157,890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7767046" y="3713758"/>
            <a:ext cx="396746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USD · Revenue from male customers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767046" y="4162623"/>
            <a:ext cx="1309159" cy="38100"/>
          </a:xfrm>
          <a:prstGeom prst="roundRect">
            <a:avLst>
              <a:gd name="adj" fmla="val 49999"/>
            </a:avLst>
          </a:prstGeom>
          <a:solidFill>
            <a:srgbClr val="0B5CE0"/>
          </a:solidFill>
          <a:ln/>
        </p:spPr>
      </p:sp>
      <p:sp>
        <p:nvSpPr>
          <p:cNvPr id="10" name="Text 7"/>
          <p:cNvSpPr/>
          <p:nvPr/>
        </p:nvSpPr>
        <p:spPr>
          <a:xfrm>
            <a:off x="7767046" y="4364236"/>
            <a:ext cx="3967460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Revenue from female customers: USD 75,191.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767046" y="5049242"/>
            <a:ext cx="396746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44557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deeper view by product, message, and channel could unlock additional growth.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34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LOYALTY AND SUBSCRIPTION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803275"/>
            <a:ext cx="1127731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The loyal customer base is large, but subscription remains 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2708672"/>
            <a:ext cx="649211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44557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Customer segment and subscription status · customers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3021012"/>
            <a:ext cx="6349841" cy="3303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06395" y="3178572"/>
            <a:ext cx="4328111" cy="747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400" spc="-128" kern="100" dirty="0">
                <a:solidFill>
                  <a:srgbClr val="0B5CE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73%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7406395" y="4123134"/>
            <a:ext cx="4328111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2,847 customers are not registered.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06395" y="4572000"/>
            <a:ext cx="1428218" cy="38100"/>
          </a:xfrm>
          <a:prstGeom prst="roundRect">
            <a:avLst>
              <a:gd name="adj" fmla="val 49999"/>
            </a:avLst>
          </a:prstGeom>
          <a:solidFill>
            <a:srgbClr val="0B5CE0"/>
          </a:solidFill>
          <a:ln/>
        </p:spPr>
      </p:sp>
      <p:sp>
        <p:nvSpPr>
          <p:cNvPr id="9" name="Text 6"/>
          <p:cNvSpPr/>
          <p:nvPr/>
        </p:nvSpPr>
        <p:spPr>
          <a:xfrm>
            <a:off x="7406395" y="4773613"/>
            <a:ext cx="4328111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There are 3,116 Loyal customers, compared with 701 Returning and 83 New customers.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406395" y="5458619"/>
            <a:ext cx="4328111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44557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Average spend is almost identical: USD 59.49 for registered customers and USD 59.87 for those not registered.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34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CATEGORIES AND PRODUCTS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803275"/>
            <a:ext cx="11277318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Clothing leads, while several products rely heavily on discounts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3073003"/>
            <a:ext cx="5486263" cy="3251597"/>
          </a:xfrm>
          <a:prstGeom prst="roundRect">
            <a:avLst>
              <a:gd name="adj" fmla="val 8436"/>
            </a:avLst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3377803"/>
            <a:ext cx="51814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REVENUE LEADER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1981" y="3647678"/>
            <a:ext cx="4876678" cy="747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400" spc="-128" kern="100" dirty="0">
                <a:solidFill>
                  <a:srgbClr val="0B5CE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~USD 100K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61981" y="4509691"/>
            <a:ext cx="48766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2150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Clothing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1981" y="4982766"/>
            <a:ext cx="518147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Approximately 1,800 orders in the dashboard.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61981" y="5430044"/>
            <a:ext cx="4876678" cy="31651"/>
          </a:xfrm>
          <a:prstGeom prst="roundRect">
            <a:avLst>
              <a:gd name="adj" fmla="val 49998"/>
            </a:avLst>
          </a:prstGeom>
          <a:solidFill>
            <a:srgbClr val="D3DCEA"/>
          </a:solidFill>
          <a:ln/>
        </p:spPr>
      </p:sp>
      <p:sp>
        <p:nvSpPr>
          <p:cNvPr id="10" name="Text 8"/>
          <p:cNvSpPr/>
          <p:nvPr/>
        </p:nvSpPr>
        <p:spPr>
          <a:xfrm>
            <a:off x="761981" y="5623719"/>
            <a:ext cx="487667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Top products by order count: Jewelry, Sunglasses, Belt; Blouse, Pants, Shirt; Sandals, Shoes, Sneakers; Jacket and Coat.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8244" y="3073003"/>
            <a:ext cx="5486263" cy="3251597"/>
          </a:xfrm>
          <a:prstGeom prst="roundRect">
            <a:avLst>
              <a:gd name="adj" fmla="val 8436"/>
            </a:avLst>
          </a:prstGeom>
          <a:solidFill>
            <a:srgbClr val="EAF1FC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36" y="3377803"/>
            <a:ext cx="51814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DISCOUNT-DEPENDENT PRODUCTS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53036" y="3647678"/>
            <a:ext cx="48766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2150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Products to review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53036" y="4120753"/>
            <a:ext cx="243833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0A215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Hat</a:t>
            </a:r>
            <a:endParaRPr lang="en-US" sz="15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50.00%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991375" y="4120753"/>
            <a:ext cx="243833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0A215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Sneakers</a:t>
            </a:r>
            <a:endParaRPr lang="en-US" sz="15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49.66%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53036" y="4691459"/>
            <a:ext cx="243833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0A215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Coat</a:t>
            </a:r>
            <a:endParaRPr lang="en-US" sz="15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49.07%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991375" y="4691459"/>
            <a:ext cx="243833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0A215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Sweater</a:t>
            </a:r>
            <a:endParaRPr lang="en-US" sz="15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48.17%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53036" y="5262166"/>
            <a:ext cx="4876678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0A215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Pants</a:t>
            </a:r>
            <a:endParaRPr lang="en-US" sz="15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47.37%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810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SHIPPING AND RATINGS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650875"/>
            <a:ext cx="1127731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Express shipping is associated with higher order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1832868"/>
            <a:ext cx="68527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44557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Average purchase amount (USD)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145209"/>
            <a:ext cx="6464138" cy="38499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67046" y="1351161"/>
            <a:ext cx="3967460" cy="280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12000" spc="-240" kern="100" dirty="0">
                <a:solidFill>
                  <a:srgbClr val="0B5CE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+USD 2.02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7767046" y="4460081"/>
            <a:ext cx="3967460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Higher average purchase value for Express than Standard.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767046" y="5194300"/>
            <a:ext cx="1309159" cy="38100"/>
          </a:xfrm>
          <a:prstGeom prst="roundRect">
            <a:avLst>
              <a:gd name="adj" fmla="val 49999"/>
            </a:avLst>
          </a:prstGeom>
          <a:solidFill>
            <a:srgbClr val="0B5CE0"/>
          </a:solidFill>
          <a:ln/>
        </p:spPr>
      </p:sp>
      <p:sp>
        <p:nvSpPr>
          <p:cNvPr id="9" name="Text 6"/>
          <p:cNvSpPr/>
          <p:nvPr/>
        </p:nvSpPr>
        <p:spPr>
          <a:xfrm>
            <a:off x="7767046" y="5395913"/>
            <a:ext cx="396746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44557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Top five products by rating: Gloves 3.86; Sandals 3.84; Boots 3.82; Hat 3.80; Skirt 3.78.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67046" y="5906294"/>
            <a:ext cx="3967460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Test a membership offer linked to faster shipping and highly rated products.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34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REVENUE BY AGE GROUP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803275"/>
            <a:ext cx="1127731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Young Adult contributes the highest revenue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2138065"/>
            <a:ext cx="68527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44557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Revenue (USD)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450405"/>
            <a:ext cx="6095848" cy="279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67046" y="2363192"/>
            <a:ext cx="3967460" cy="8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4400" dirty="0">
                <a:solidFill>
                  <a:srgbClr val="0B5CE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USD 62,143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67046" y="3287713"/>
            <a:ext cx="396746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Young Adult revenue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767046" y="3736578"/>
            <a:ext cx="1309159" cy="38100"/>
          </a:xfrm>
          <a:prstGeom prst="roundRect">
            <a:avLst>
              <a:gd name="adj" fmla="val 49999"/>
            </a:avLst>
          </a:prstGeom>
          <a:solidFill>
            <a:srgbClr val="0B5CE0"/>
          </a:solidFill>
          <a:ln/>
        </p:spPr>
      </p:sp>
      <p:sp>
        <p:nvSpPr>
          <p:cNvPr id="9" name="Text 6"/>
          <p:cNvSpPr/>
          <p:nvPr/>
        </p:nvSpPr>
        <p:spPr>
          <a:xfrm>
            <a:off x="7767046" y="3938191"/>
            <a:ext cx="3967460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gap between the highest and lowest groups is USD 6,380.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67046" y="4623197"/>
            <a:ext cx="396746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100" dirty="0">
                <a:solidFill>
                  <a:srgbClr val="44557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Age-based campaigns should start with Young Adult, then expand to Middle-aged.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33400"/>
            <a:ext cx="27532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0A215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FROM DATA TO MONITORING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803275"/>
            <a:ext cx="2372261" cy="298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0A2150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The dashboard turns data into a behavior-monitoring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4612481"/>
            <a:ext cx="2372261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0A215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Filters for subscription, gender, category, and shipping type move the analysis from a total view to individual customer segments.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0440" y="838101"/>
            <a:ext cx="8978675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533400"/>
            <a:ext cx="114805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FROM ANALYSIS TO 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60383" y="803275"/>
            <a:ext cx="1087092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FFFFFF"/>
                </a:solidFill>
                <a:latin typeface="Gloock" pitchFamily="34" charset="0"/>
                <a:ea typeface="Gloock" pitchFamily="34" charset="-122"/>
                <a:cs typeface="Gloock" pitchFamily="34" charset="-120"/>
              </a:rPr>
              <a:t>Five growth priorities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60383" y="1484015"/>
            <a:ext cx="814962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B5CE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60383" y="1759645"/>
            <a:ext cx="3471180" cy="19050"/>
          </a:xfrm>
          <a:prstGeom prst="rect">
            <a:avLst/>
          </a:prstGeom>
          <a:solidFill>
            <a:srgbClr val="0B5CE0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1858070"/>
            <a:ext cx="3471180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Strengthen membership benefits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0383" y="2273300"/>
            <a:ext cx="3471180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Convert Loyal customers who are not yet registered.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436356" y="1484015"/>
            <a:ext cx="847605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B5CE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436356" y="1759645"/>
            <a:ext cx="3369583" cy="19050"/>
          </a:xfrm>
          <a:prstGeom prst="rect">
            <a:avLst/>
          </a:prstGeom>
          <a:solidFill>
            <a:srgbClr val="0B5CE0"/>
          </a:solidFill>
          <a:ln/>
        </p:spPr>
      </p:sp>
      <p:sp>
        <p:nvSpPr>
          <p:cNvPr id="10" name="Text 8"/>
          <p:cNvSpPr/>
          <p:nvPr/>
        </p:nvSpPr>
        <p:spPr>
          <a:xfrm>
            <a:off x="4436356" y="1858070"/>
            <a:ext cx="3369682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Build a rewards program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436356" y="2273300"/>
            <a:ext cx="3369682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Encourage repeat purchases.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10831" y="1484015"/>
            <a:ext cx="85961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B5CE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10831" y="1759645"/>
            <a:ext cx="3420282" cy="19050"/>
          </a:xfrm>
          <a:prstGeom prst="rect">
            <a:avLst/>
          </a:prstGeom>
          <a:solidFill>
            <a:srgbClr val="0B5CE0"/>
          </a:solidFill>
          <a:ln/>
        </p:spPr>
      </p:sp>
      <p:sp>
        <p:nvSpPr>
          <p:cNvPr id="14" name="Text 12"/>
          <p:cNvSpPr/>
          <p:nvPr/>
        </p:nvSpPr>
        <p:spPr>
          <a:xfrm>
            <a:off x="8110831" y="1858070"/>
            <a:ext cx="342038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Review discount-dependent products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110831" y="2545655"/>
            <a:ext cx="342038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Protect margin while keeping demand healthy.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0383" y="3421162"/>
            <a:ext cx="864967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B5CE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60383" y="3696791"/>
            <a:ext cx="3471180" cy="19050"/>
          </a:xfrm>
          <a:prstGeom prst="rect">
            <a:avLst/>
          </a:prstGeom>
          <a:solidFill>
            <a:srgbClr val="0B5CE0"/>
          </a:solidFill>
          <a:ln/>
        </p:spPr>
      </p:sp>
      <p:sp>
        <p:nvSpPr>
          <p:cNvPr id="18" name="Text 16"/>
          <p:cNvSpPr/>
          <p:nvPr/>
        </p:nvSpPr>
        <p:spPr>
          <a:xfrm>
            <a:off x="660383" y="3795216"/>
            <a:ext cx="3471180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Feature highly rated bestsellers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0383" y="4210447"/>
            <a:ext cx="347118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Make them part of core campaigns.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436356" y="3421162"/>
            <a:ext cx="86099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50" dirty="0">
                <a:solidFill>
                  <a:srgbClr val="0B5CE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436356" y="3696791"/>
            <a:ext cx="7094757" cy="19050"/>
          </a:xfrm>
          <a:prstGeom prst="rect">
            <a:avLst/>
          </a:prstGeom>
          <a:solidFill>
            <a:srgbClr val="0B5CE0"/>
          </a:solidFill>
          <a:ln/>
        </p:spPr>
      </p:sp>
      <p:sp>
        <p:nvSpPr>
          <p:cNvPr id="22" name="Text 20"/>
          <p:cNvSpPr/>
          <p:nvPr/>
        </p:nvSpPr>
        <p:spPr>
          <a:xfrm>
            <a:off x="4436356" y="3795216"/>
            <a:ext cx="7094856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Target Young Adult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436356" y="4210447"/>
            <a:ext cx="7094856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Test a membership offer linked to Express shipping.</a:t>
            </a:r>
            <a:endParaRPr lang="en-US" sz="15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00600"/>
            <a:ext cx="12191695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2026-10-05T01:45:36Z</dcterms:created>
  <dcterms:modified xsi:type="dcterms:W3CDTF">2026-10-05T01:45:36Z</dcterms:modified>
</cp:coreProperties>
</file>